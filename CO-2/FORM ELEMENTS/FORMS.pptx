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68" r:id="rId18"/>
    <p:sldId id="274" r:id="rId19"/>
    <p:sldId id="275" r:id="rId20"/>
    <p:sldId id="276" r:id="rId21"/>
    <p:sldId id="277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2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5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4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5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6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8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F9605-3092-4325-AC62-AACCA1ACAA63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096BC-38A9-429C-949D-EBA170E2C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29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4721BF-AD1F-FFB8-3E6D-3ABCA47CAEDA}"/>
              </a:ext>
            </a:extLst>
          </p:cNvPr>
          <p:cNvSpPr txBox="1"/>
          <p:nvPr/>
        </p:nvSpPr>
        <p:spPr>
          <a:xfrm>
            <a:off x="75414" y="75415"/>
            <a:ext cx="1204745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B050"/>
                </a:solidFill>
              </a:rPr>
              <a:t>Introduction to HTML Forms</a:t>
            </a:r>
          </a:p>
          <a:p>
            <a:pPr>
              <a:buNone/>
            </a:pPr>
            <a:r>
              <a:rPr lang="en-US" sz="3200" b="1" dirty="0"/>
              <a:t>What is an HTML Form?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B0F0"/>
                </a:solidFill>
              </a:rPr>
              <a:t>HTML Forms are used to </a:t>
            </a:r>
            <a:r>
              <a:rPr lang="en-US" sz="3200" b="1" dirty="0">
                <a:solidFill>
                  <a:srgbClr val="00B0F0"/>
                </a:solidFill>
              </a:rPr>
              <a:t>collect user input</a:t>
            </a:r>
            <a:endParaRPr lang="en-US" sz="3200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B0F0"/>
                </a:solidFill>
              </a:rPr>
              <a:t>Data is sent to a server for processing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B0F0"/>
                </a:solidFill>
              </a:rPr>
              <a:t>Used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Login pages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Registration 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Feedback 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Search boxes</a:t>
            </a:r>
          </a:p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Syntax</a:t>
            </a:r>
            <a:endParaRPr lang="en-US" sz="3200" dirty="0">
              <a:solidFill>
                <a:srgbClr val="FF0000"/>
              </a:solidFill>
            </a:endParaRPr>
          </a:p>
          <a:p>
            <a:pPr rtl="0">
              <a:buNone/>
            </a:pPr>
            <a:r>
              <a:rPr lang="en-US" sz="3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rtl="0">
              <a:buNone/>
            </a:pPr>
            <a:r>
              <a:rPr lang="en-US" sz="3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&lt;!-- form elements --&gt;</a:t>
            </a:r>
          </a:p>
          <a:p>
            <a:pPr rtl="0">
              <a:buNone/>
            </a:pPr>
            <a:r>
              <a:rPr lang="en-US" sz="3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94113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6A21-818C-345D-F12C-2AA73CD4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DBFF1E-7824-6D26-76F7-AAA79DC20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369665"/>
              </p:ext>
            </p:extLst>
          </p:nvPr>
        </p:nvGraphicFramePr>
        <p:xfrm>
          <a:off x="715652" y="2221513"/>
          <a:ext cx="10515600" cy="3627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497316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3860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932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User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093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Field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51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select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Dropdown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4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Dropdown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50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textarea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Multi-line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5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00B0F0"/>
                          </a:solidFill>
                        </a:rPr>
                        <a:t>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Click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16489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B21BF9F-8D86-A488-2CD9-E059A9106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04" y="475412"/>
            <a:ext cx="443583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Form Elements: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Common Form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64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4D4F-C5FD-5CBD-C579-79E04F91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CD8CB2-E975-17FF-3E0C-60C70FBAD0DF}"/>
              </a:ext>
            </a:extLst>
          </p:cNvPr>
          <p:cNvSpPr txBox="1"/>
          <p:nvPr/>
        </p:nvSpPr>
        <p:spPr>
          <a:xfrm>
            <a:off x="398283" y="306274"/>
            <a:ext cx="60944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Input Types</a:t>
            </a:r>
          </a:p>
          <a:p>
            <a:pPr>
              <a:buNone/>
            </a:pPr>
            <a:r>
              <a:rPr lang="en-US" sz="3200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Important Input Types</a:t>
            </a:r>
          </a:p>
          <a:p>
            <a:pPr>
              <a:buNone/>
            </a:pPr>
            <a:endParaRPr lang="en-US" sz="3200" dirty="0">
              <a:solidFill>
                <a:srgbClr val="00B05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radio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checkbox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470174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17EE54-98B9-1E5D-D969-801F6F4D27A0}"/>
              </a:ext>
            </a:extLst>
          </p:cNvPr>
          <p:cNvSpPr txBox="1"/>
          <p:nvPr/>
        </p:nvSpPr>
        <p:spPr>
          <a:xfrm>
            <a:off x="304014" y="312079"/>
            <a:ext cx="118879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Program: Basic HTML Form: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&lt;form&gt;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&lt;label&gt;USER NAME:&lt;/label&gt;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type="text"&gt;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&lt;/form&gt;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rtl="0">
              <a:buNone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C3FA0-1EB1-F278-F71D-0AD55320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068" y="4553145"/>
            <a:ext cx="9051884" cy="17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9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F2CD8-032D-086F-A82D-07E37B6863E5}"/>
              </a:ext>
            </a:extLst>
          </p:cNvPr>
          <p:cNvSpPr txBox="1"/>
          <p:nvPr/>
        </p:nvSpPr>
        <p:spPr>
          <a:xfrm>
            <a:off x="228600" y="537603"/>
            <a:ext cx="71148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&lt;label&gt;PASSWORD&lt;/label&gt;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type=“password"&gt;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B1D38-3B80-A2E3-065B-73E8DC99E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597" y="4203297"/>
            <a:ext cx="9286973" cy="218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4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3E04D-413E-5143-3056-2310F9A7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067" y="4686275"/>
            <a:ext cx="7165933" cy="2171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B2AE00-E526-B210-092C-968A181B8EB3}"/>
              </a:ext>
            </a:extLst>
          </p:cNvPr>
          <p:cNvSpPr txBox="1"/>
          <p:nvPr/>
        </p:nvSpPr>
        <p:spPr>
          <a:xfrm>
            <a:off x="388855" y="215967"/>
            <a:ext cx="116020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&lt;label&gt;Age:&lt;/label&gt;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type=“number"&gt;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2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1DC3-EE53-710E-BB21-EA3A47E7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64EAC6-14F1-6271-4C36-35C90D76B890}"/>
              </a:ext>
            </a:extLst>
          </p:cNvPr>
          <p:cNvSpPr txBox="1"/>
          <p:nvPr/>
        </p:nvSpPr>
        <p:spPr>
          <a:xfrm>
            <a:off x="388856" y="215967"/>
            <a:ext cx="1180314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Email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:&lt;/label&gt;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type=“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email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"&gt;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C5E40-83DC-9000-CFA1-AAC908033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918" y="4289196"/>
            <a:ext cx="9509082" cy="256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4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76DF5-6AB2-0C44-37ED-B83A644C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90344-6ECC-D4CD-EF0C-E3F2170B4571}"/>
              </a:ext>
            </a:extLst>
          </p:cNvPr>
          <p:cNvSpPr txBox="1"/>
          <p:nvPr/>
        </p:nvSpPr>
        <p:spPr>
          <a:xfrm>
            <a:off x="388856" y="215967"/>
            <a:ext cx="1180314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&lt;input type="submit"&gt;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		&lt;input type=“reset"&gt;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C4636-7B9C-8244-BD28-9B465BD3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872" y="2317326"/>
            <a:ext cx="5414128" cy="44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25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04A8-39A3-744C-53A4-8AB679C2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B3B09C-CCEC-DB1D-117D-C93EDAC34A84}"/>
              </a:ext>
            </a:extLst>
          </p:cNvPr>
          <p:cNvSpPr txBox="1"/>
          <p:nvPr/>
        </p:nvSpPr>
        <p:spPr>
          <a:xfrm>
            <a:off x="388856" y="215967"/>
            <a:ext cx="118031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lvl="0"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Gender:&lt;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type="radio" name="gender"&gt; Male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type="radio" name="gender"&gt; Female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43C1B-0BC4-80CD-74D2-C50D04D0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616" y="3289955"/>
            <a:ext cx="2993384" cy="35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6461-8D5A-F1B7-1F3F-CAB2D47E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A7DB6-EE5E-F230-1F13-A17825EFE8C9}"/>
              </a:ext>
            </a:extLst>
          </p:cNvPr>
          <p:cNvSpPr txBox="1"/>
          <p:nvPr/>
        </p:nvSpPr>
        <p:spPr>
          <a:xfrm>
            <a:off x="388856" y="215967"/>
            <a:ext cx="118031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Subjects:&lt;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type="checkbox"&gt; FWD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type="checkbox"&gt; DSTJ</a:t>
            </a:r>
          </a:p>
          <a:p>
            <a:pPr lvl="0"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type="checkbox"&gt; MATHS FOR AI</a:t>
            </a:r>
          </a:p>
          <a:p>
            <a:pPr lvl="0"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CF0FE-F054-980A-E87E-0BA909BB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35" y="3839699"/>
            <a:ext cx="5216165" cy="30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29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6159-0F91-62B9-96CF-71876A66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212C36-2417-C288-653A-5DABD2DE43A2}"/>
              </a:ext>
            </a:extLst>
          </p:cNvPr>
          <p:cNvSpPr txBox="1"/>
          <p:nvPr/>
        </p:nvSpPr>
        <p:spPr>
          <a:xfrm>
            <a:off x="388856" y="215967"/>
            <a:ext cx="118031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City: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 &lt;select&gt;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   &lt;option &gt;Hyderabad&lt;/option&gt;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   &lt;option&gt;Bangalore&lt;/option&gt;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   &lt;option&gt;Chennai&lt;/option&gt;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 &lt;/select&gt;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36470-F303-DC9D-21D7-4355161E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138" y="3543364"/>
            <a:ext cx="4546862" cy="331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6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055C-2E1E-BA61-9C84-52BE7CEA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364110-9B2E-E8E5-1E64-8392C20FBE6B}"/>
              </a:ext>
            </a:extLst>
          </p:cNvPr>
          <p:cNvSpPr txBox="1"/>
          <p:nvPr/>
        </p:nvSpPr>
        <p:spPr>
          <a:xfrm>
            <a:off x="388856" y="215967"/>
            <a:ext cx="118031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 DOB:&lt;input type="date"&gt;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65556-54C4-DC11-FAFE-B75C5AB0F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69" y="0"/>
            <a:ext cx="5397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50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F91C-1961-2659-B8F8-6E05C50C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592BD3-10AF-2EC6-7631-7F0CC15B8F79}"/>
              </a:ext>
            </a:extLst>
          </p:cNvPr>
          <p:cNvSpPr txBox="1"/>
          <p:nvPr/>
        </p:nvSpPr>
        <p:spPr>
          <a:xfrm>
            <a:off x="388856" y="215967"/>
            <a:ext cx="1180314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Address:&lt;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textarea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rows="4" cols="30"&gt;&lt;/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textarea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0C9B9-4006-7658-24E8-CEEBB4B8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420" y="4006392"/>
            <a:ext cx="5250580" cy="285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8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D727-ED29-5641-E10B-3775F7DE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3F1851-A535-B62C-8BCE-8273364B71F9}"/>
              </a:ext>
            </a:extLst>
          </p:cNvPr>
          <p:cNvSpPr txBox="1"/>
          <p:nvPr/>
        </p:nvSpPr>
        <p:spPr>
          <a:xfrm>
            <a:off x="388856" y="215967"/>
            <a:ext cx="1180314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dirty="0" err="1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Fieldset</a:t>
            </a:r>
            <a:r>
              <a:rPr lang="en-US" sz="32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fieldset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&lt;legend&gt;Login Details&lt;/legend&gt;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&lt;label&gt;Username:&lt;/label&gt;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type="text"&gt;&lt;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&lt;label&gt;Password:&lt;/label&gt;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&lt;input type="password"&gt;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&lt;/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fieldset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B027B-CCB2-D4DA-53BF-9F0809E5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350" y="3930977"/>
            <a:ext cx="5031650" cy="290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5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C4CD-E448-A7C8-0131-E5EFD850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6EEC03-3D17-8FBA-CE3D-ECF216DDAC30}"/>
              </a:ext>
            </a:extLst>
          </p:cNvPr>
          <p:cNvSpPr txBox="1"/>
          <p:nvPr/>
        </p:nvSpPr>
        <p:spPr>
          <a:xfrm>
            <a:off x="388856" y="215967"/>
            <a:ext cx="118031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00"/>
                </a:solidFill>
              </a:rPr>
              <a:t>File Upload Option: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Payment Receipt: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&lt;input type="file" required&gt;&lt;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type="submit"&gt;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10E16-6B03-2F19-762C-6F4C2C3A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44" y="3773102"/>
            <a:ext cx="7506878" cy="308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27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EFF14-E62D-1A17-8422-4E3C6663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56C543-67A6-5A56-AA78-ECE222017241}"/>
              </a:ext>
            </a:extLst>
          </p:cNvPr>
          <p:cNvSpPr txBox="1"/>
          <p:nvPr/>
        </p:nvSpPr>
        <p:spPr>
          <a:xfrm>
            <a:off x="454844" y="328749"/>
            <a:ext cx="115454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Advanced Input Attributes</a:t>
            </a:r>
          </a:p>
          <a:p>
            <a:pPr>
              <a:buNone/>
            </a:pPr>
            <a:r>
              <a:rPr lang="en-US" sz="3200" b="1" dirty="0">
                <a:solidFill>
                  <a:srgbClr val="00B05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Attributes</a:t>
            </a:r>
          </a:p>
          <a:p>
            <a:pPr>
              <a:buNone/>
            </a:pPr>
            <a:endParaRPr lang="en-US" sz="3200" b="1" dirty="0">
              <a:solidFill>
                <a:srgbClr val="00B05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placeholder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readonly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disabled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Min,max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9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BECE-8BCB-1FBB-74AF-B140A1B0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877934-148D-82E0-09E9-7A3BF1A553C5}"/>
              </a:ext>
            </a:extLst>
          </p:cNvPr>
          <p:cNvSpPr txBox="1"/>
          <p:nvPr/>
        </p:nvSpPr>
        <p:spPr>
          <a:xfrm>
            <a:off x="388856" y="215967"/>
            <a:ext cx="1180314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Important Input Attributes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FF00"/>
                </a:solidFill>
              </a:rPr>
              <a:t>placeholder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FF00"/>
                </a:solidFill>
              </a:rPr>
              <a:t>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placeholder="Enter name" required&gt;&lt;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type="email" placeholder="Enter email" required&gt;&lt;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type="submit"&gt;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34299-77DA-067E-1847-65D84D51A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961" y="0"/>
            <a:ext cx="3601039" cy="276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42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50D6F-4E16-7E81-19E5-B47BB052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88E2E1-835E-C0D7-7E97-B99AFAE80428}"/>
              </a:ext>
            </a:extLst>
          </p:cNvPr>
          <p:cNvSpPr txBox="1"/>
          <p:nvPr/>
        </p:nvSpPr>
        <p:spPr>
          <a:xfrm>
            <a:off x="388856" y="215967"/>
            <a:ext cx="1180314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FFFF00"/>
                </a:solidFill>
              </a:rPr>
              <a:t>readonly</a:t>
            </a:r>
            <a:r>
              <a:rPr lang="en-US" sz="3200" b="1" dirty="0">
                <a:solidFill>
                  <a:srgbClr val="FFFF00"/>
                </a:solidFill>
              </a:rPr>
              <a:t> Attribute:</a:t>
            </a:r>
          </a:p>
          <a:p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Username: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value="Admin"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readonly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064C5-36A6-2A4F-049C-886DCF37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594" y="4534292"/>
            <a:ext cx="7755406" cy="22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4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B2BF5-9437-39E0-4E90-078FDC2C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35DBDB-1B26-B248-1BFD-BFFA02FF15AC}"/>
              </a:ext>
            </a:extLst>
          </p:cNvPr>
          <p:cNvSpPr txBox="1"/>
          <p:nvPr/>
        </p:nvSpPr>
        <p:spPr>
          <a:xfrm>
            <a:off x="388856" y="215967"/>
            <a:ext cx="1180314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disabled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  <a:r>
              <a:rPr lang="en-US" sz="3200" b="1" dirty="0">
                <a:solidFill>
                  <a:srgbClr val="FFFF00"/>
                </a:solidFill>
              </a:rPr>
              <a:t>Attribute:</a:t>
            </a:r>
          </a:p>
          <a:p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UNIVERSITY: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value="KLH UNIVERSITY" disabled&gt;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DD8B7-77DA-F46F-57DB-3A67E552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34" y="4376167"/>
            <a:ext cx="9401666" cy="24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02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2F0A-4FAA-8829-EBFC-E5672C50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21A384-F58B-F613-5312-CB839CC1D27F}"/>
              </a:ext>
            </a:extLst>
          </p:cNvPr>
          <p:cNvSpPr txBox="1"/>
          <p:nvPr/>
        </p:nvSpPr>
        <p:spPr>
          <a:xfrm>
            <a:off x="388856" y="215967"/>
            <a:ext cx="1180314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3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Attribute: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AADHAR NUMBER: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="12" pattern="[0-9]{12}"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PHONE: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="10" pattern="[0-9]{10}"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PIN: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="6" pattern="[0-9]{6}"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type="submit"&gt;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02D92-8679-34C4-E6D1-31369FBE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527" y="4892511"/>
            <a:ext cx="3764473" cy="19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77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7BE7-3056-58F1-67A9-03B9711B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A98226-71B0-FC68-6BCF-2F056F4B6297}"/>
              </a:ext>
            </a:extLst>
          </p:cNvPr>
          <p:cNvSpPr txBox="1"/>
          <p:nvPr/>
        </p:nvSpPr>
        <p:spPr>
          <a:xfrm>
            <a:off x="388856" y="215967"/>
            <a:ext cx="1180314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3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Attribute: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AADHAR NUMBER: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="12" pattern="[0-9]{12}"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PHONE: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="10" pattern="[0-9]{10}"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F0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PIN: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type="text" 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maxlength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="6" pattern="[0-9]{6}" required&gt;&lt;</a:t>
            </a:r>
            <a:r>
              <a:rPr lang="en-US" sz="24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type="submit"&gt;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F895E-DFEC-8096-C32B-1BD01D57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527" y="4892511"/>
            <a:ext cx="3764473" cy="19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5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1320-64A6-D04C-016F-4817BCA8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482915-6DCD-02BC-262C-10098B5D6CA9}"/>
              </a:ext>
            </a:extLst>
          </p:cNvPr>
          <p:cNvSpPr txBox="1"/>
          <p:nvPr/>
        </p:nvSpPr>
        <p:spPr>
          <a:xfrm>
            <a:off x="388856" y="215967"/>
            <a:ext cx="118031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00"/>
                </a:solidFill>
              </a:rPr>
              <a:t>Phone Number Validation Example: (Pattern advanced attribute)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&lt;html&gt;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&lt;body&gt;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&lt;form&gt;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Phone: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&lt;input type="text" pattern="[0-9]{10}" required&gt;&lt;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&gt;&lt;</a:t>
            </a:r>
            <a:r>
              <a:rPr lang="en-US" sz="3200" dirty="0" err="1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</a:t>
            </a:r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&lt;input type="submit"&gt;</a:t>
            </a:r>
          </a:p>
          <a:p>
            <a:r>
              <a:rPr lang="en-US" sz="3200" dirty="0">
                <a:solidFill>
                  <a:srgbClr val="00B0F0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&lt;/form&gt;</a:t>
            </a:r>
          </a:p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&lt;/body&gt;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&lt;/html&gt;</a:t>
            </a:r>
            <a:endParaRPr lang="en-US" sz="3200" dirty="0">
              <a:solidFill>
                <a:srgbClr val="00B0F0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CED64-6856-4936-BA2D-FEA76A24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795" y="4247270"/>
            <a:ext cx="5303205" cy="261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32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602</TotalTime>
  <Words>1011</Words>
  <Application>Microsoft Office PowerPoint</Application>
  <PresentationFormat>Widescreen</PresentationFormat>
  <Paragraphs>234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Cascadia Code SemiLight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Srinivas</dc:creator>
  <cp:lastModifiedBy>B Srinivas</cp:lastModifiedBy>
  <cp:revision>59</cp:revision>
  <dcterms:created xsi:type="dcterms:W3CDTF">2026-01-24T07:09:39Z</dcterms:created>
  <dcterms:modified xsi:type="dcterms:W3CDTF">2026-01-27T06:05:08Z</dcterms:modified>
</cp:coreProperties>
</file>