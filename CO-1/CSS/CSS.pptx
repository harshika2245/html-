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</p:sldMasterIdLst>
  <p:notesMasterIdLst>
    <p:notesMasterId r:id="rId6"/>
  </p:notesMasterIdLst>
  <p:handoutMasterIdLst>
    <p:handoutMasterId r:id="rId7"/>
  </p:handoutMasterIdLst>
  <p:sldIdLst>
    <p:sldId id="291" r:id="rId2"/>
    <p:sldId id="294" r:id="rId3"/>
    <p:sldId id="296" r:id="rId4"/>
    <p:sldId id="29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FF"/>
    <a:srgbClr val="3399FF"/>
    <a:srgbClr val="5735D5"/>
    <a:srgbClr val="B4E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pPr/>
              <a:t>19-01-2026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pPr/>
              <a:t>19-01-2026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3696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0B0F0"/>
            </a:gs>
            <a:gs pos="0">
              <a:srgbClr val="00B0F0"/>
            </a:gs>
            <a:gs pos="100000">
              <a:srgbClr val="00B0F0"/>
            </a:gs>
            <a:gs pos="89000">
              <a:schemeClr val="bg1">
                <a:shade val="80000"/>
              </a:schemeClr>
            </a:gs>
          </a:gsLst>
          <a:path path="circle">
            <a:fillToRect l="43000" r="43000" b="10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90022" y="-318716"/>
            <a:ext cx="3273164" cy="1427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6DC17B-26AF-9373-8C21-FFB1BE73B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703526-2145-7348-8040-7213B63D0082}"/>
              </a:ext>
            </a:extLst>
          </p:cNvPr>
          <p:cNvSpPr txBox="1"/>
          <p:nvPr/>
        </p:nvSpPr>
        <p:spPr>
          <a:xfrm>
            <a:off x="300127" y="674400"/>
            <a:ext cx="1143143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b="1" dirty="0">
                <a:solidFill>
                  <a:srgbClr val="FF0000"/>
                </a:solidFill>
              </a:rPr>
              <a:t>Introduction to CSS</a:t>
            </a:r>
          </a:p>
          <a:p>
            <a:pPr algn="just">
              <a:buNone/>
            </a:pPr>
            <a:r>
              <a:rPr lang="en-US" sz="3200" b="1" dirty="0"/>
              <a:t>CSS (Cascading Style Sheets)</a:t>
            </a:r>
            <a:r>
              <a:rPr lang="en-US" sz="3200" dirty="0"/>
              <a:t> is used to style and format HTML content.</a:t>
            </a:r>
          </a:p>
          <a:p>
            <a:pPr algn="just">
              <a:buNone/>
            </a:pPr>
            <a:r>
              <a:rPr lang="en-US" sz="3200" b="1" dirty="0">
                <a:solidFill>
                  <a:srgbClr val="FF0000"/>
                </a:solidFill>
              </a:rPr>
              <a:t>CSS Controls:</a:t>
            </a:r>
            <a:endParaRPr lang="en-US" sz="3200" dirty="0">
              <a:solidFill>
                <a:srgbClr val="FF0000"/>
              </a:solidFill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Colors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Fonts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Layout and spacing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3200" dirty="0"/>
              <a:t>Backgrounds and borders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3D001AB-7138-1289-2FE6-075C596C6690}"/>
              </a:ext>
            </a:extLst>
          </p:cNvPr>
          <p:cNvSpPr/>
          <p:nvPr/>
        </p:nvSpPr>
        <p:spPr>
          <a:xfrm>
            <a:off x="1118681" y="0"/>
            <a:ext cx="1361872" cy="564204"/>
          </a:xfrm>
          <a:prstGeom prst="rec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FWD</a:t>
            </a:r>
          </a:p>
        </p:txBody>
      </p:sp>
    </p:spTree>
    <p:extLst>
      <p:ext uri="{BB962C8B-B14F-4D97-AF65-F5344CB8AC3E}">
        <p14:creationId xmlns:p14="http://schemas.microsoft.com/office/powerpoint/2010/main" val="4194361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3CCFE6-F922-9593-4B14-920C7115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FC0178-7EC3-C3E1-63AA-1440C65B2BDA}"/>
              </a:ext>
            </a:extLst>
          </p:cNvPr>
          <p:cNvSpPr txBox="1"/>
          <p:nvPr/>
        </p:nvSpPr>
        <p:spPr>
          <a:xfrm>
            <a:off x="307186" y="919598"/>
            <a:ext cx="1188481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Introduction to CSS Syntax</a:t>
            </a:r>
          </a:p>
          <a:p>
            <a:pPr>
              <a:buNone/>
            </a:pPr>
            <a:r>
              <a:rPr lang="en-US" sz="3200" b="1" dirty="0"/>
              <a:t>CSS (Cascading Style Sheets</a:t>
            </a:r>
          </a:p>
          <a:p>
            <a:pPr>
              <a:buNone/>
            </a:pPr>
            <a:endParaRPr lang="en-US" sz="3200" b="1" dirty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sz="3200" b="1" dirty="0">
                <a:solidFill>
                  <a:srgbClr val="FF0000"/>
                </a:solidFill>
              </a:rPr>
              <a:t>Basic CSS Rule Syntax:</a:t>
            </a:r>
          </a:p>
          <a:p>
            <a:pPr rtl="0">
              <a:buNone/>
            </a:pPr>
            <a:r>
              <a:rPr lang="en-US" sz="3200" b="1" dirty="0">
                <a:latin typeface="Courier New" panose="02070309020205020404" pitchFamily="49" charset="0"/>
              </a:rPr>
              <a:t>selector {</a:t>
            </a:r>
          </a:p>
          <a:p>
            <a:pPr rtl="0">
              <a:buNone/>
            </a:pPr>
            <a:r>
              <a:rPr lang="en-US" sz="3200" b="1" dirty="0">
                <a:latin typeface="Courier New" panose="02070309020205020404" pitchFamily="49" charset="0"/>
              </a:rPr>
              <a:t>  property: value;</a:t>
            </a:r>
          </a:p>
          <a:p>
            <a:pPr rtl="0">
              <a:buNone/>
            </a:pPr>
            <a:r>
              <a:rPr lang="en-US" sz="3200" b="1" dirty="0">
                <a:latin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4E361-C11F-F282-BB48-0354DD2C86A8}"/>
              </a:ext>
            </a:extLst>
          </p:cNvPr>
          <p:cNvSpPr/>
          <p:nvPr/>
        </p:nvSpPr>
        <p:spPr>
          <a:xfrm>
            <a:off x="1118681" y="0"/>
            <a:ext cx="1361872" cy="564204"/>
          </a:xfrm>
          <a:prstGeom prst="rec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FWD</a:t>
            </a:r>
          </a:p>
        </p:txBody>
      </p:sp>
    </p:spTree>
    <p:extLst>
      <p:ext uri="{BB962C8B-B14F-4D97-AF65-F5344CB8AC3E}">
        <p14:creationId xmlns:p14="http://schemas.microsoft.com/office/powerpoint/2010/main" val="1298288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A6573C-D019-3DD4-021B-5A9297801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893ED4-4A35-3DD4-D78B-F1A397B862A4}"/>
              </a:ext>
            </a:extLst>
          </p:cNvPr>
          <p:cNvSpPr txBox="1"/>
          <p:nvPr/>
        </p:nvSpPr>
        <p:spPr>
          <a:xfrm>
            <a:off x="172665" y="782120"/>
            <a:ext cx="11571861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Element Selector</a:t>
            </a:r>
          </a:p>
          <a:p>
            <a:pPr>
              <a:buNone/>
            </a:pPr>
            <a:r>
              <a:rPr lang="en-US" sz="2800" dirty="0"/>
              <a:t>The </a:t>
            </a:r>
            <a:r>
              <a:rPr lang="en-US" sz="2800" b="1" dirty="0"/>
              <a:t>element selector</a:t>
            </a:r>
            <a:r>
              <a:rPr lang="en-US" sz="2800" dirty="0"/>
              <a:t> selects HTML elements based on their tag name.</a:t>
            </a:r>
          </a:p>
          <a:p>
            <a:pPr>
              <a:buNone/>
            </a:pPr>
            <a:r>
              <a:rPr lang="en-US" sz="2800" b="1" dirty="0"/>
              <a:t>Syntax:</a:t>
            </a:r>
            <a:endParaRPr lang="en-US" sz="2800" dirty="0"/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Element or selector {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  property: value;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sz="2800" b="1" dirty="0">
                <a:solidFill>
                  <a:srgbClr val="FF0000"/>
                </a:solidFill>
              </a:rPr>
              <a:t>Example:</a:t>
            </a:r>
            <a:endParaRPr lang="en-US" sz="2800" dirty="0">
              <a:solidFill>
                <a:srgbClr val="FF0000"/>
              </a:solidFill>
            </a:endParaRP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h1 {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  color: green;</a:t>
            </a:r>
          </a:p>
          <a:p>
            <a:pPr rtl="0">
              <a:buNone/>
            </a:pPr>
            <a:r>
              <a:rPr lang="en-US" sz="2800" dirty="0">
                <a:latin typeface="Courier New" panose="02070309020205020404" pitchFamily="49" charset="0"/>
              </a:rPr>
              <a:t>}</a:t>
            </a:r>
          </a:p>
          <a:p>
            <a:pPr>
              <a:buNone/>
            </a:pPr>
            <a:r>
              <a:rPr lang="en-US" sz="2800" dirty="0"/>
              <a:t>This applies the style to </a:t>
            </a:r>
            <a:r>
              <a:rPr lang="en-US" sz="2800" b="1" dirty="0"/>
              <a:t>all </a:t>
            </a:r>
            <a:r>
              <a:rPr lang="en-US" sz="2800" b="1" dirty="0">
                <a:latin typeface="Courier New" panose="02070309020205020404" pitchFamily="49" charset="0"/>
              </a:rPr>
              <a:t>&lt;h1&gt;</a:t>
            </a:r>
            <a:r>
              <a:rPr lang="en-US" sz="2800" b="1" dirty="0"/>
              <a:t> elements</a:t>
            </a:r>
            <a:r>
              <a:rPr lang="en-US" sz="2800" dirty="0"/>
              <a:t>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67A606-AEE2-1939-9CBF-5658CF1FECC8}"/>
              </a:ext>
            </a:extLst>
          </p:cNvPr>
          <p:cNvSpPr/>
          <p:nvPr/>
        </p:nvSpPr>
        <p:spPr>
          <a:xfrm>
            <a:off x="1118681" y="0"/>
            <a:ext cx="1361872" cy="564204"/>
          </a:xfrm>
          <a:prstGeom prst="rec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FWD</a:t>
            </a:r>
          </a:p>
        </p:txBody>
      </p:sp>
    </p:spTree>
    <p:extLst>
      <p:ext uri="{BB962C8B-B14F-4D97-AF65-F5344CB8AC3E}">
        <p14:creationId xmlns:p14="http://schemas.microsoft.com/office/powerpoint/2010/main" val="4170945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4ACCB15-42DA-7C12-A4D1-68E9E8A45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9F5366-5FE8-FB22-ED66-ADAEC4076F1C}"/>
              </a:ext>
            </a:extLst>
          </p:cNvPr>
          <p:cNvSpPr txBox="1"/>
          <p:nvPr/>
        </p:nvSpPr>
        <p:spPr>
          <a:xfrm>
            <a:off x="415557" y="564204"/>
            <a:ext cx="110919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rgbClr val="FF0000"/>
                </a:solidFill>
                <a:latin typeface="Candara" panose="020E0502030303020204" pitchFamily="34" charset="0"/>
              </a:rPr>
              <a:t>Simple CSS Styling Example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&lt;style&gt;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body {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  background-color: </a:t>
            </a:r>
            <a:r>
              <a:rPr lang="en-US" sz="2400" b="1" dirty="0" err="1">
                <a:latin typeface="Candara" panose="020E0502030303020204" pitchFamily="34" charset="0"/>
              </a:rPr>
              <a:t>lightblue</a:t>
            </a:r>
            <a:r>
              <a:rPr lang="en-US" sz="2400" b="1" dirty="0">
                <a:latin typeface="Candara" panose="020E0502030303020204" pitchFamily="34" charset="0"/>
              </a:rPr>
              <a:t>;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}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h1 {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  color: </a:t>
            </a:r>
            <a:r>
              <a:rPr lang="en-US" sz="2400" b="1" dirty="0" err="1">
                <a:latin typeface="Candara" panose="020E0502030303020204" pitchFamily="34" charset="0"/>
              </a:rPr>
              <a:t>darkblue</a:t>
            </a:r>
            <a:r>
              <a:rPr lang="en-US" sz="2400" b="1" dirty="0">
                <a:latin typeface="Candara" panose="020E0502030303020204" pitchFamily="34" charset="0"/>
              </a:rPr>
              <a:t>;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}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p {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  font-size: 16px;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  }</a:t>
            </a:r>
          </a:p>
          <a:p>
            <a:pPr rtl="0">
              <a:buNone/>
            </a:pPr>
            <a:r>
              <a:rPr lang="en-US" sz="2400" b="1" dirty="0">
                <a:latin typeface="Candara" panose="020E0502030303020204" pitchFamily="34" charset="0"/>
              </a:rPr>
              <a:t>&lt;/style&gt;</a:t>
            </a:r>
          </a:p>
          <a:p>
            <a:pPr>
              <a:buNone/>
            </a:pPr>
            <a:r>
              <a:rPr lang="en-US" sz="2400" b="1" dirty="0">
                <a:latin typeface="Candara" panose="020E0502030303020204" pitchFamily="34" charset="0"/>
              </a:rPr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CSS rules consist of selector + property +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Candara" panose="020E0502030303020204" pitchFamily="34" charset="0"/>
              </a:rPr>
              <a:t>Improves appearance and user experience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005F29-8BA6-F7FB-7107-BE4DD419D7B4}"/>
              </a:ext>
            </a:extLst>
          </p:cNvPr>
          <p:cNvSpPr/>
          <p:nvPr/>
        </p:nvSpPr>
        <p:spPr>
          <a:xfrm>
            <a:off x="1118681" y="0"/>
            <a:ext cx="1361872" cy="564204"/>
          </a:xfrm>
          <a:prstGeom prst="rect">
            <a:avLst/>
          </a:prstGeom>
          <a:solidFill>
            <a:srgbClr val="00B050"/>
          </a:solidFill>
          <a:ln>
            <a:solidFill>
              <a:srgbClr val="FFFF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FWD</a:t>
            </a:r>
          </a:p>
        </p:txBody>
      </p:sp>
    </p:spTree>
    <p:extLst>
      <p:ext uri="{BB962C8B-B14F-4D97-AF65-F5344CB8AC3E}">
        <p14:creationId xmlns:p14="http://schemas.microsoft.com/office/powerpoint/2010/main" val="3802790711"/>
      </p:ext>
    </p:extLst>
  </p:cSld>
  <p:clrMapOvr>
    <a:masterClrMapping/>
  </p:clrMapOvr>
</p:sld>
</file>

<file path=ppt/theme/theme1.xml><?xml version="1.0" encoding="utf-8"?>
<a:theme xmlns:a="http://schemas.openxmlformats.org/drawingml/2006/main" name="CO1_Session_1  V2.0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24598BE9-BD78-4C1A-902E-0BA786164A9D}" vid="{1551CBD6-114D-4A17-981D-82FBB9D5494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CO1_Session_1  V2.0</Template>
  <TotalTime>5257</TotalTime>
  <Words>162</Words>
  <Application>Microsoft Office PowerPoint</Application>
  <PresentationFormat>Widescreen</PresentationFormat>
  <Paragraphs>48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Calibri</vt:lpstr>
      <vt:lpstr>Candara</vt:lpstr>
      <vt:lpstr>Courier New</vt:lpstr>
      <vt:lpstr>Gill Sans MT</vt:lpstr>
      <vt:lpstr>CO1_Session_1  V2.0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DTI</dc:title>
  <dc:creator>PKS</dc:creator>
  <cp:lastModifiedBy>B Srinivas</cp:lastModifiedBy>
  <cp:revision>132</cp:revision>
  <dcterms:created xsi:type="dcterms:W3CDTF">2023-06-13T04:08:14Z</dcterms:created>
  <dcterms:modified xsi:type="dcterms:W3CDTF">2026-01-19T17:31:59Z</dcterms:modified>
</cp:coreProperties>
</file>